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60" r:id="rId4"/>
    <p:sldId id="257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DAB9C"/>
    <a:srgbClr val="EDEDED"/>
    <a:srgbClr val="A486FE"/>
    <a:srgbClr val="7C66E2"/>
    <a:srgbClr val="7C63FD"/>
    <a:srgbClr val="E1E1E1"/>
    <a:srgbClr val="3055F0"/>
    <a:srgbClr val="9747DD"/>
    <a:srgbClr val="8B4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466" y="648"/>
      </p:cViewPr>
      <p:guideLst>
        <p:guide orient="horz" pos="2155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microsoft.com/office/2007/relationships/hdphoto" Target="../media/hdphoto5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3.wdp"/><Relationship Id="rId1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microsoft.com/office/2007/relationships/hdphoto" Target="../media/hdphoto6.wdp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3.wdp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microsoft.com/office/2007/relationships/hdphoto" Target="../media/hdphoto6.wdp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9.jpeg"/><Relationship Id="rId2" Type="http://schemas.openxmlformats.org/officeDocument/2006/relationships/image" Target="../media/image2.png"/><Relationship Id="rId16" Type="http://schemas.microsoft.com/office/2007/relationships/hdphoto" Target="../media/hdphoto5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3.wdp"/><Relationship Id="rId1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microsoft.com/office/2007/relationships/hdphoto" Target="../media/hdphoto6.wdp"/><Relationship Id="rId1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3.wdp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microsoft.com/office/2007/relationships/hdphoto" Target="../media/hdphoto6.wdp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18" Type="http://schemas.openxmlformats.org/officeDocument/2006/relationships/image" Target="../media/image11.jpeg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17" Type="http://schemas.openxmlformats.org/officeDocument/2006/relationships/image" Target="../media/image10.jpeg"/><Relationship Id="rId2" Type="http://schemas.openxmlformats.org/officeDocument/2006/relationships/image" Target="../media/image2.png"/><Relationship Id="rId16" Type="http://schemas.openxmlformats.org/officeDocument/2006/relationships/image" Target="../media/image9.jpeg"/><Relationship Id="rId20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3.wdp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19" Type="http://schemas.openxmlformats.org/officeDocument/2006/relationships/image" Target="../media/image12.jpeg"/><Relationship Id="rId4" Type="http://schemas.openxmlformats.org/officeDocument/2006/relationships/image" Target="../media/image3.png"/><Relationship Id="rId9" Type="http://schemas.microsoft.com/office/2007/relationships/hdphoto" Target="../media/hdphoto6.wdp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18" Type="http://schemas.openxmlformats.org/officeDocument/2006/relationships/image" Target="../media/image16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17" Type="http://schemas.openxmlformats.org/officeDocument/2006/relationships/image" Target="../media/image15.jpeg"/><Relationship Id="rId2" Type="http://schemas.openxmlformats.org/officeDocument/2006/relationships/image" Target="../media/image2.png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3.wdp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19" Type="http://schemas.microsoft.com/office/2007/relationships/hdphoto" Target="../media/hdphoto8.wdp"/><Relationship Id="rId4" Type="http://schemas.openxmlformats.org/officeDocument/2006/relationships/image" Target="../media/image3.png"/><Relationship Id="rId9" Type="http://schemas.microsoft.com/office/2007/relationships/hdphoto" Target="../media/hdphoto6.wdp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18" Type="http://schemas.openxmlformats.org/officeDocument/2006/relationships/image" Target="../media/image18.png"/><Relationship Id="rId3" Type="http://schemas.microsoft.com/office/2007/relationships/hdphoto" Target="../media/hdphoto2.wdp"/><Relationship Id="rId21" Type="http://schemas.openxmlformats.org/officeDocument/2006/relationships/image" Target="../media/image20.png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17" Type="http://schemas.microsoft.com/office/2007/relationships/hdphoto" Target="../media/hdphoto8.wdp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9.wdp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19" Type="http://schemas.microsoft.com/office/2007/relationships/hdphoto" Target="../media/hdphoto10.wdp"/><Relationship Id="rId4" Type="http://schemas.openxmlformats.org/officeDocument/2006/relationships/image" Target="../media/image17.png"/><Relationship Id="rId9" Type="http://schemas.microsoft.com/office/2007/relationships/hdphoto" Target="../media/hdphoto6.wdp"/><Relationship Id="rId14" Type="http://schemas.openxmlformats.org/officeDocument/2006/relationships/image" Target="../media/image5.png"/><Relationship Id="rId22" Type="http://schemas.microsoft.com/office/2007/relationships/hdphoto" Target="../media/hdphoto1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.png"/><Relationship Id="rId17" Type="http://schemas.microsoft.com/office/2007/relationships/hdphoto" Target="../media/hdphoto8.wdp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7.wdp"/><Relationship Id="rId5" Type="http://schemas.microsoft.com/office/2007/relationships/hdphoto" Target="../media/hdphoto9.wdp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microsoft.com/office/2007/relationships/hdphoto" Target="../media/hdphoto6.wdp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5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5.png"/><Relationship Id="rId17" Type="http://schemas.microsoft.com/office/2007/relationships/hdphoto" Target="../media/hdphoto7.wdp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microsoft.com/office/2007/relationships/hdphoto" Target="../media/hdphoto9.wdp"/><Relationship Id="rId15" Type="http://schemas.microsoft.com/office/2007/relationships/hdphoto" Target="../media/hdphoto8.wdp"/><Relationship Id="rId10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microsoft.com/office/2007/relationships/hdphoto" Target="../media/hdphoto6.wdp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14605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26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5" name="Прямоугольник 25"/>
          <p:cNvSpPr/>
          <p:nvPr/>
        </p:nvSpPr>
        <p:spPr>
          <a:xfrm>
            <a:off x="-13970" y="-344170"/>
            <a:ext cx="12205335" cy="7546340"/>
          </a:xfrm>
          <a:prstGeom prst="rect">
            <a:avLst/>
          </a:prstGeom>
          <a:solidFill>
            <a:srgbClr val="0D0F4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Скругленный прямоугольник 3"/>
          <p:cNvSpPr/>
          <p:nvPr/>
        </p:nvSpPr>
        <p:spPr>
          <a:xfrm>
            <a:off x="309245" y="191770"/>
            <a:ext cx="11378565" cy="33934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165" y="1696085"/>
            <a:ext cx="11256010" cy="1954530"/>
          </a:xfrm>
        </p:spPr>
        <p:txBody>
          <a:bodyPr>
            <a:noAutofit/>
          </a:bodyPr>
          <a:lstStyle/>
          <a:p>
            <a:r>
              <a:rPr lang="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«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Создание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чат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-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бота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студентов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абитуриентов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ГПОУ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«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СПТ</a:t>
            </a:r>
            <a:r>
              <a:rPr lang="ru-RU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»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национальном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мессенджере</a:t>
            </a:r>
            <a:r>
              <a:rPr lang="en-US" altLang="ru-RU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МАХ</a:t>
            </a:r>
            <a:r>
              <a:rPr lang="" altLang="en-US" sz="4400">
                <a:solidFill>
                  <a:srgbClr val="8B45E1"/>
                </a:solidFill>
                <a:latin typeface="Arial Black" panose="020B0A04020102020204" charset="0"/>
                <a:cs typeface="Arial Black" panose="020B0A04020102020204" charset="0"/>
              </a:rPr>
              <a:t>»</a:t>
            </a:r>
          </a:p>
        </p:txBody>
      </p:sp>
      <p:pic>
        <p:nvPicPr>
          <p:cNvPr id="26" name="Рисунок 2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7502525" y="2862580"/>
            <a:ext cx="5914390" cy="5914390"/>
          </a:xfrm>
          <a:prstGeom prst="rect">
            <a:avLst/>
          </a:prstGeom>
        </p:spPr>
      </p:pic>
      <p:pic>
        <p:nvPicPr>
          <p:cNvPr id="31" name="Рисунок 3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1542">
            <a:off x="6079490" y="2548890"/>
            <a:ext cx="4140200" cy="4140200"/>
          </a:xfrm>
          <a:prstGeom prst="rect">
            <a:avLst/>
          </a:prstGeom>
        </p:spPr>
      </p:pic>
      <p:pic>
        <p:nvPicPr>
          <p:cNvPr id="30" name="Рисунок 30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8218805" y="4789805"/>
            <a:ext cx="766445" cy="766445"/>
          </a:xfrm>
          <a:prstGeom prst="rect">
            <a:avLst/>
          </a:prstGeom>
        </p:spPr>
      </p:pic>
      <p:pic>
        <p:nvPicPr>
          <p:cNvPr id="29" name="Рисунок 29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0484485" y="2574925"/>
            <a:ext cx="2253615" cy="2253615"/>
          </a:xfrm>
          <a:prstGeom prst="rect">
            <a:avLst/>
          </a:prstGeom>
        </p:spPr>
      </p:pic>
      <p:pic>
        <p:nvPicPr>
          <p:cNvPr id="290" name="Рисунок 290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7285355" y="5591810"/>
            <a:ext cx="1200150" cy="1200150"/>
          </a:xfrm>
          <a:prstGeom prst="rect">
            <a:avLst/>
          </a:prstGeom>
        </p:spPr>
      </p:pic>
      <p:pic>
        <p:nvPicPr>
          <p:cNvPr id="291" name="Рисунок 291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8673465" y="4046220"/>
            <a:ext cx="1144905" cy="1144905"/>
          </a:xfrm>
          <a:prstGeom prst="rect">
            <a:avLst/>
          </a:prstGeom>
        </p:spPr>
      </p:pic>
      <p:pic>
        <p:nvPicPr>
          <p:cNvPr id="7" name="Рисунок 27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82213">
            <a:off x="9484360" y="2970530"/>
            <a:ext cx="1860550" cy="1860550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104775" y="5281295"/>
            <a:ext cx="7000240" cy="1337945"/>
          </a:xfrm>
          <a:prstGeom prst="roundRect">
            <a:avLst>
              <a:gd name="adj" fmla="val 29339"/>
            </a:avLst>
          </a:prstGeom>
          <a:solidFill>
            <a:srgbClr val="C8CEF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3830" y="5281295"/>
            <a:ext cx="6899910" cy="1223645"/>
          </a:xfrm>
        </p:spPr>
        <p:txBody>
          <a:bodyPr>
            <a:noAutofit/>
          </a:bodyPr>
          <a:lstStyle/>
          <a:p>
            <a:r>
              <a:rPr lang="ru-RU" altLang="en-US" dirty="0">
                <a:latin typeface="Arial" panose="020B0604020202020204" pitchFamily="34" charset="0"/>
                <a:cs typeface="Arial" panose="020B0604020202020204" pitchFamily="34" charset="0"/>
              </a:rPr>
              <a:t>Выполнил: Блинников Артем Николаевич</a:t>
            </a:r>
          </a:p>
          <a:p>
            <a:r>
              <a:rPr lang="ru-RU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Наставник: </a:t>
            </a:r>
            <a:r>
              <a:rPr lang="en-US" alt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Пунгин</a:t>
            </a:r>
            <a:r>
              <a:rPr lang="en-US" alt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Иль</a:t>
            </a:r>
            <a:r>
              <a:rPr lang="ru-RU" altLang="en-US" dirty="0">
                <a:latin typeface="Arial" panose="020B0604020202020204" pitchFamily="34" charset="0"/>
                <a:cs typeface="Arial" panose="020B0604020202020204" pitchFamily="34" charset="0"/>
              </a:rPr>
              <a:t>я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Вячеславович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dirty="0">
                <a:latin typeface="Arial" panose="020B0604020202020204" pitchFamily="34" charset="0"/>
                <a:cs typeface="Arial" panose="020B0604020202020204" pitchFamily="34" charset="0"/>
              </a:rPr>
              <a:t>Группа: 414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4605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0" name="Прямоугольник 25"/>
          <p:cNvSpPr/>
          <p:nvPr/>
        </p:nvSpPr>
        <p:spPr>
          <a:xfrm>
            <a:off x="-13970" y="-344170"/>
            <a:ext cx="12205335" cy="7546340"/>
          </a:xfrm>
          <a:prstGeom prst="rect">
            <a:avLst/>
          </a:prstGeom>
          <a:solidFill>
            <a:srgbClr val="0D0F40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1542">
            <a:off x="8090535" y="6390005"/>
            <a:ext cx="4140200" cy="4140200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8124190" y="7041515"/>
            <a:ext cx="766445" cy="76644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1572875" y="6459855"/>
            <a:ext cx="2253615" cy="225361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9018905" y="7091680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120" y="7197725"/>
            <a:ext cx="1860550" cy="1860550"/>
          </a:xfrm>
          <a:prstGeom prst="rect">
            <a:avLst/>
          </a:prstGeom>
        </p:spPr>
      </p:pic>
      <p:pic>
        <p:nvPicPr>
          <p:cNvPr id="26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8231505" y="4260215"/>
            <a:ext cx="5914390" cy="5914390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387350" y="412115"/>
            <a:ext cx="6144895" cy="26257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440381" y="3865879"/>
            <a:ext cx="10449947" cy="2249133"/>
          </a:xfrm>
          <a:prstGeom prst="round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98170" y="548005"/>
            <a:ext cx="593407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Актуальность: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абитуриенты</a:t>
            </a:r>
            <a:b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студенты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всё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чаще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ищут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информацию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</a:t>
            </a:r>
            <a:r>
              <a:rPr lang="ru-RU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учебном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процессе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мессенджерах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-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это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быстрее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удобнее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чем</a:t>
            </a:r>
            <a:r>
              <a:rPr lang="ru-RU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изучать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сайт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.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823710" y="810260"/>
            <a:ext cx="4799330" cy="2908300"/>
          </a:xfrm>
          <a:prstGeom prst="roundRect">
            <a:avLst/>
          </a:prstGeom>
          <a:solidFill>
            <a:srgbClr val="0DAB9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7209155" y="988060"/>
            <a:ext cx="414210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Проблема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: </a:t>
            </a:r>
            <a:r>
              <a:rPr lang="ru-RU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абитуриенты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студенты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теряют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время</a:t>
            </a:r>
            <a:r>
              <a:rPr lang="ru-RU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на поиски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нужн</a:t>
            </a:r>
            <a:r>
              <a:rPr lang="ru-RU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ой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информаци</a:t>
            </a:r>
            <a:r>
              <a:rPr lang="ru-RU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на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сайтах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или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личной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встречей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,</a:t>
            </a:r>
            <a:b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а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сотрудники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отвечают</a:t>
            </a:r>
            <a:b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на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одни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те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же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вопросы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сотни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раз</a:t>
            </a:r>
            <a:r>
              <a:rPr lang="en-US" altLang="ru-RU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.</a:t>
            </a:r>
          </a:p>
        </p:txBody>
      </p:sp>
      <p:pic>
        <p:nvPicPr>
          <p:cNvPr id="12" name="Изображение 11" descr="2026-06-17_18-58-34"/>
          <p:cNvPicPr>
            <a:picLocks noChangeAspect="1"/>
          </p:cNvPicPr>
          <p:nvPr/>
        </p:nvPicPr>
        <p:blipFill rotWithShape="1">
          <a:blip r:embed="rId14"/>
          <a:srcRect t="1605" r="352" b="4839"/>
          <a:stretch/>
        </p:blipFill>
        <p:spPr>
          <a:xfrm>
            <a:off x="1616573" y="4053506"/>
            <a:ext cx="10084509" cy="1836893"/>
          </a:xfrm>
          <a:prstGeom prst="roundRect">
            <a:avLst/>
          </a:prstGeom>
        </p:spPr>
      </p:pic>
      <p:pic>
        <p:nvPicPr>
          <p:cNvPr id="290" name="Рисунок 290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292100" y="4215130"/>
            <a:ext cx="2100580" cy="2100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4605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0" name="Прямоугольник 25"/>
          <p:cNvSpPr/>
          <p:nvPr/>
        </p:nvSpPr>
        <p:spPr>
          <a:xfrm>
            <a:off x="-13970" y="-344170"/>
            <a:ext cx="12205335" cy="7546340"/>
          </a:xfrm>
          <a:prstGeom prst="rect">
            <a:avLst/>
          </a:prstGeom>
          <a:solidFill>
            <a:srgbClr val="0D0F4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1542">
            <a:off x="8090535" y="6390005"/>
            <a:ext cx="4140200" cy="4140200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8124190" y="7041515"/>
            <a:ext cx="766445" cy="76644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1572875" y="6459855"/>
            <a:ext cx="2253615" cy="225361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9018905" y="7091680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120" y="7197725"/>
            <a:ext cx="1860550" cy="1860550"/>
          </a:xfrm>
          <a:prstGeom prst="rect">
            <a:avLst/>
          </a:prstGeom>
        </p:spPr>
      </p:pic>
      <p:pic>
        <p:nvPicPr>
          <p:cNvPr id="26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8231505" y="4260215"/>
            <a:ext cx="5914390" cy="5914390"/>
          </a:xfrm>
          <a:prstGeom prst="rect">
            <a:avLst/>
          </a:prstGeom>
        </p:spPr>
      </p:pic>
      <p:sp>
        <p:nvSpPr>
          <p:cNvPr id="12" name="Скругленный прямоугольник 11"/>
          <p:cNvSpPr/>
          <p:nvPr/>
        </p:nvSpPr>
        <p:spPr>
          <a:xfrm>
            <a:off x="493346" y="412518"/>
            <a:ext cx="9112250" cy="21399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736868" y="575078"/>
            <a:ext cx="862520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Ц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ель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: 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разработать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внедрить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чат</a:t>
            </a:r>
            <a:r>
              <a:rPr lang="en-US" alt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-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бота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автоматизации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работы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администрации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информирования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студентов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абитуриентов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ГПОУ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"</a:t>
            </a:r>
            <a:r>
              <a:rPr lang="en-US" altLang="en-US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СПТ</a:t>
            </a:r>
            <a:r>
              <a:rPr lang="en-US" alt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"</a:t>
            </a: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403860" y="3048228"/>
            <a:ext cx="10943590" cy="3103017"/>
          </a:xfrm>
          <a:prstGeom prst="round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736868" y="3048228"/>
            <a:ext cx="101650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адачи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Провести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текущих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информационных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ресурсов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выявить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их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недостатки</a:t>
            </a: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Определить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информационные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потребности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студентов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абитуриентов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ru-RU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логическую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структуру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хранения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Разработать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программную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en-US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часть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чат</a:t>
            </a:r>
            <a:r>
              <a:rPr lang="en-US" altLang="ru-RU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бота</a:t>
            </a: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Выполнить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функциональное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разработанного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бота</a:t>
            </a:r>
            <a:endParaRPr lang="en-US" altLang="en-US" sz="2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0" name="Рисунок 290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9977562" y="151097"/>
            <a:ext cx="2100580" cy="2100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4605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1542">
            <a:off x="8090535" y="6390005"/>
            <a:ext cx="4140200" cy="4140200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11692890" y="8134985"/>
            <a:ext cx="766445" cy="76644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1572875" y="6459855"/>
            <a:ext cx="2253615" cy="225361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10631170" y="7945755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20" y="291465"/>
            <a:ext cx="1860550" cy="1860550"/>
          </a:xfrm>
          <a:prstGeom prst="rect">
            <a:avLst/>
          </a:prstGeom>
        </p:spPr>
      </p:pic>
      <p:pic>
        <p:nvPicPr>
          <p:cNvPr id="21" name="Рисунок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25" y="291465"/>
            <a:ext cx="1263015" cy="1263015"/>
          </a:xfrm>
          <a:prstGeom prst="ellipse">
            <a:avLst/>
          </a:prstGeom>
        </p:spPr>
      </p:pic>
      <p:sp>
        <p:nvSpPr>
          <p:cNvPr id="22" name="Скругленная прямоугольная выноска 21"/>
          <p:cNvSpPr/>
          <p:nvPr/>
        </p:nvSpPr>
        <p:spPr>
          <a:xfrm>
            <a:off x="3563620" y="372745"/>
            <a:ext cx="6252845" cy="803910"/>
          </a:xfrm>
          <a:prstGeom prst="wedgeRoundRectCallout">
            <a:avLst>
              <a:gd name="adj1" fmla="val 60014"/>
              <a:gd name="adj2" fmla="val -2843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23" name="Рисунок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20" y="2491105"/>
            <a:ext cx="1263015" cy="1263015"/>
          </a:xfrm>
          <a:prstGeom prst="ellipse">
            <a:avLst/>
          </a:prstGeom>
        </p:spPr>
      </p:pic>
      <p:sp>
        <p:nvSpPr>
          <p:cNvPr id="24" name="Скругленная прямоугольная выноска 23"/>
          <p:cNvSpPr/>
          <p:nvPr/>
        </p:nvSpPr>
        <p:spPr>
          <a:xfrm>
            <a:off x="2291080" y="1726565"/>
            <a:ext cx="8644890" cy="1851660"/>
          </a:xfrm>
          <a:prstGeom prst="wedgeRoundRectCallout">
            <a:avLst>
              <a:gd name="adj1" fmla="val -57617"/>
              <a:gd name="adj2" fmla="val 2270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27" name="Рисунок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530" y="3923030"/>
            <a:ext cx="1263015" cy="1263015"/>
          </a:xfrm>
          <a:prstGeom prst="ellipse">
            <a:avLst/>
          </a:prstGeom>
        </p:spPr>
      </p:pic>
      <p:sp>
        <p:nvSpPr>
          <p:cNvPr id="28" name="Скругленная прямоугольная выноска 27"/>
          <p:cNvSpPr/>
          <p:nvPr/>
        </p:nvSpPr>
        <p:spPr>
          <a:xfrm>
            <a:off x="2383155" y="5148580"/>
            <a:ext cx="8167370" cy="1313815"/>
          </a:xfrm>
          <a:prstGeom prst="wedgeRoundRectCallout">
            <a:avLst>
              <a:gd name="adj1" fmla="val -58989"/>
              <a:gd name="adj2" fmla="val -1877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33" name="Рисунок 26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8509635" y="5635625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sp>
        <p:nvSpPr>
          <p:cNvPr id="38" name="Текстовое поле 37"/>
          <p:cNvSpPr txBox="1"/>
          <p:nvPr/>
        </p:nvSpPr>
        <p:spPr>
          <a:xfrm>
            <a:off x="3792220" y="544195"/>
            <a:ext cx="5642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А какой у тебя объект исследования?</a:t>
            </a:r>
          </a:p>
        </p:txBody>
      </p:sp>
      <p:sp>
        <p:nvSpPr>
          <p:cNvPr id="39" name="Текстовое поле 38"/>
          <p:cNvSpPr txBox="1"/>
          <p:nvPr/>
        </p:nvSpPr>
        <p:spPr>
          <a:xfrm>
            <a:off x="2548890" y="1885950"/>
            <a:ext cx="80416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Объектом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исследования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моей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работы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является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процесс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информирования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абитуриентов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студентов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учреждении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среднего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профессионального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образования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.</a:t>
            </a:r>
          </a:p>
        </p:txBody>
      </p:sp>
      <p:sp>
        <p:nvSpPr>
          <p:cNvPr id="40" name="Скругленная прямоугольная выноска 39"/>
          <p:cNvSpPr/>
          <p:nvPr/>
        </p:nvSpPr>
        <p:spPr>
          <a:xfrm>
            <a:off x="5540375" y="3899535"/>
            <a:ext cx="4405630" cy="803910"/>
          </a:xfrm>
          <a:prstGeom prst="wedgeRoundRectCallout">
            <a:avLst>
              <a:gd name="adj1" fmla="val 60014"/>
              <a:gd name="adj2" fmla="val -2843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41" name="Текстовое поле 40"/>
          <p:cNvSpPr txBox="1"/>
          <p:nvPr/>
        </p:nvSpPr>
        <p:spPr>
          <a:xfrm>
            <a:off x="5713730" y="4046220"/>
            <a:ext cx="4102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А предмет исследования?</a:t>
            </a:r>
          </a:p>
        </p:txBody>
      </p:sp>
      <p:pic>
        <p:nvPicPr>
          <p:cNvPr id="42" name="Рисунок 1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05" y="4987925"/>
            <a:ext cx="1263015" cy="1263015"/>
          </a:xfrm>
          <a:prstGeom prst="ellipse">
            <a:avLst/>
          </a:prstGeom>
        </p:spPr>
      </p:pic>
      <p:sp>
        <p:nvSpPr>
          <p:cNvPr id="43" name="Текстовое поле 42"/>
          <p:cNvSpPr txBox="1"/>
          <p:nvPr/>
        </p:nvSpPr>
        <p:spPr>
          <a:xfrm>
            <a:off x="2647315" y="5148580"/>
            <a:ext cx="77501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Предметом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исследования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-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методы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средства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автоматизации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этого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процесса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использованием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чат</a:t>
            </a:r>
            <a:r>
              <a:rPr lang="en-US" altLang="ru-RU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-</a:t>
            </a:r>
            <a:r>
              <a:rPr lang="en-US" altLang="en-US" sz="240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бота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4" grpId="0" animBg="1"/>
      <p:bldP spid="24" grpId="1" animBg="1"/>
      <p:bldP spid="28" grpId="0" animBg="1"/>
      <p:bldP spid="28" grpId="1" animBg="1"/>
      <p:bldP spid="38" grpId="0"/>
      <p:bldP spid="38" grpId="1"/>
      <p:bldP spid="39" grpId="0"/>
      <p:bldP spid="39" grpId="1"/>
      <p:bldP spid="40" grpId="0" animBg="1"/>
      <p:bldP spid="40" grpId="1" animBg="1"/>
      <p:bldP spid="41" grpId="0"/>
      <p:bldP spid="41" grpId="1"/>
      <p:bldP spid="43" grpId="0"/>
      <p:bldP spid="4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4605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1542">
            <a:off x="8090535" y="6390005"/>
            <a:ext cx="4140200" cy="4140200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11692890" y="8134985"/>
            <a:ext cx="766445" cy="76644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9903460" y="-195580"/>
            <a:ext cx="2601595" cy="260159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10631170" y="7945755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8840" y="174625"/>
            <a:ext cx="1860550" cy="1860550"/>
          </a:xfrm>
          <a:prstGeom prst="rect">
            <a:avLst/>
          </a:prstGeom>
        </p:spPr>
      </p:pic>
      <p:pic>
        <p:nvPicPr>
          <p:cNvPr id="33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8247380" y="3754755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626110" y="497205"/>
            <a:ext cx="4090035" cy="5862955"/>
          </a:xfrm>
          <a:prstGeom prst="roundRect">
            <a:avLst/>
          </a:prstGeom>
          <a:solidFill>
            <a:srgbClr val="EDEDE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630545" y="497205"/>
            <a:ext cx="4090035" cy="58629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750570" y="914400"/>
            <a:ext cx="386397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32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Т</a:t>
            </a:r>
            <a:r>
              <a:rPr lang="en-US" altLang="en-US" sz="3200" dirty="0" err="1" smtClean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еоретический</a:t>
            </a:r>
            <a:endParaRPr lang="en-US" altLang="ru-RU" sz="32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ru-RU" sz="32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altLang="en-US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нализ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документации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техникума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изучение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чатов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студентами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существующих</a:t>
            </a:r>
            <a:r>
              <a:rPr lang="en-US" altLang="ru-RU" sz="3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решений</a:t>
            </a:r>
            <a:endParaRPr lang="en-US" altLang="ru-RU" sz="32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745480" y="914400"/>
            <a:ext cx="386397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32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Практический</a:t>
            </a:r>
            <a:endParaRPr lang="en-US" altLang="ru-RU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ru-RU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роектирование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базы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бота</a:t>
            </a: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использованием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библиотеки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maxapi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</a:t>
            </a: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реальными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пользователями</a:t>
            </a:r>
            <a:endParaRPr lang="en-US" altLang="ru-RU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9050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01542">
            <a:off x="8090535" y="6390005"/>
            <a:ext cx="4140200" cy="4140200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11692890" y="8134985"/>
            <a:ext cx="766445" cy="76644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2068810" y="-1724025"/>
            <a:ext cx="2601595" cy="278447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10631170" y="7945755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8840" y="174625"/>
            <a:ext cx="1860550" cy="1860550"/>
          </a:xfrm>
          <a:prstGeom prst="rect">
            <a:avLst/>
          </a:prstGeom>
        </p:spPr>
      </p:pic>
      <p:pic>
        <p:nvPicPr>
          <p:cNvPr id="33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9118600" y="5823585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pic>
        <p:nvPicPr>
          <p:cNvPr id="23" name="Рисунок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" y="328930"/>
            <a:ext cx="1263015" cy="1263015"/>
          </a:xfrm>
          <a:prstGeom prst="ellipse">
            <a:avLst/>
          </a:prstGeom>
        </p:spPr>
      </p:pic>
      <p:sp>
        <p:nvSpPr>
          <p:cNvPr id="6" name="Скругленная прямоугольная выноска 5"/>
          <p:cNvSpPr/>
          <p:nvPr/>
        </p:nvSpPr>
        <p:spPr>
          <a:xfrm>
            <a:off x="2466340" y="328930"/>
            <a:ext cx="9069070" cy="1123315"/>
          </a:xfrm>
          <a:prstGeom prst="wedgeRoundRectCallout">
            <a:avLst>
              <a:gd name="adj1" fmla="val -60250"/>
              <a:gd name="adj2" fmla="val -22922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646362" y="380365"/>
            <a:ext cx="87090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Мы хотим видеть: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расписание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звонков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практики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список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специальностей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контакты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учебной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частью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информация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общежитии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внеурочные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активности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.</a:t>
            </a:r>
          </a:p>
        </p:txBody>
      </p:sp>
      <p:pic>
        <p:nvPicPr>
          <p:cNvPr id="8" name="Рисунок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740" y="1718945"/>
            <a:ext cx="1263015" cy="1263015"/>
          </a:xfrm>
          <a:prstGeom prst="ellipse">
            <a:avLst/>
          </a:prstGeom>
        </p:spPr>
      </p:pic>
      <p:sp>
        <p:nvSpPr>
          <p:cNvPr id="9" name="Скругленная прямоугольная выноска 8"/>
          <p:cNvSpPr/>
          <p:nvPr/>
        </p:nvSpPr>
        <p:spPr>
          <a:xfrm>
            <a:off x="3020060" y="1830705"/>
            <a:ext cx="7102475" cy="810260"/>
          </a:xfrm>
          <a:prstGeom prst="wedgeRoundRectCallout">
            <a:avLst>
              <a:gd name="adj1" fmla="val 58218"/>
              <a:gd name="adj2" fmla="val 19277"/>
              <a:gd name="adj3" fmla="val 16667"/>
            </a:avLst>
          </a:prstGeom>
          <a:solidFill>
            <a:srgbClr val="EDEDE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3096633" y="1881374"/>
            <a:ext cx="6949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altLang="en-US" sz="2000" dirty="0">
                <a:latin typeface="Arial Black" panose="020B0A04020102020204" charset="0"/>
                <a:cs typeface="Arial Black" panose="020B0A04020102020204" charset="0"/>
              </a:rPr>
              <a:t>Но у нас ведь есть г</a:t>
            </a:r>
            <a:r>
              <a:rPr lang="en-US" altLang="en-US" sz="2000" dirty="0" err="1">
                <a:latin typeface="Arial Black" panose="020B0A04020102020204" charset="0"/>
                <a:cs typeface="Arial Black" panose="020B0A04020102020204" charset="0"/>
              </a:rPr>
              <a:t>руппа</a:t>
            </a:r>
            <a:r>
              <a:rPr lang="en-US" altLang="ru-RU" sz="20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latin typeface="Arial Black" panose="020B0A04020102020204" charset="0"/>
                <a:cs typeface="Arial Black" panose="020B0A04020102020204" charset="0"/>
              </a:rPr>
              <a:t>ВКонтакте</a:t>
            </a:r>
            <a:r>
              <a:rPr lang="ru-RU" altLang="en-US" sz="2000" dirty="0">
                <a:latin typeface="Arial Black" panose="020B0A04020102020204" charset="0"/>
                <a:cs typeface="Arial Black" panose="020B0A04020102020204" charset="0"/>
              </a:rPr>
              <a:t>, канал</a:t>
            </a:r>
            <a:br>
              <a:rPr lang="ru-RU" altLang="en-US" sz="2000" dirty="0"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000" dirty="0"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20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latin typeface="Arial Black" panose="020B0A04020102020204" charset="0"/>
                <a:cs typeface="Arial Black" panose="020B0A04020102020204" charset="0"/>
              </a:rPr>
              <a:t>мессенджере</a:t>
            </a:r>
            <a:r>
              <a:rPr lang="en-US" altLang="ru-RU" sz="20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" altLang="en-US" sz="2000" dirty="0">
                <a:latin typeface="Arial Black" panose="020B0A04020102020204" charset="0"/>
                <a:cs typeface="Arial Black" panose="020B0A04020102020204" charset="0"/>
              </a:rPr>
              <a:t>«</a:t>
            </a:r>
            <a:r>
              <a:rPr lang="en-US" altLang="en-US" sz="2000" dirty="0">
                <a:latin typeface="Arial Black" panose="020B0A04020102020204" charset="0"/>
                <a:cs typeface="Arial Black" panose="020B0A04020102020204" charset="0"/>
              </a:rPr>
              <a:t>MAX</a:t>
            </a:r>
            <a:r>
              <a:rPr lang="" altLang="en-US" sz="2000" dirty="0">
                <a:latin typeface="Arial Black" panose="020B0A04020102020204" charset="0"/>
                <a:cs typeface="Arial Black" panose="020B0A04020102020204" charset="0"/>
              </a:rPr>
              <a:t>»</a:t>
            </a:r>
            <a:r>
              <a:rPr lang="en-US" altLang="ru-RU" sz="20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altLang="en-US" sz="2000" dirty="0">
                <a:latin typeface="Arial Black" panose="020B0A04020102020204" charset="0"/>
                <a:cs typeface="Arial Black" panose="020B0A04020102020204" charset="0"/>
              </a:rPr>
              <a:t>и о</a:t>
            </a:r>
            <a:r>
              <a:rPr lang="en-US" altLang="en-US" sz="2000" dirty="0" err="1">
                <a:latin typeface="Arial Black" panose="020B0A04020102020204" charset="0"/>
                <a:cs typeface="Arial Black" panose="020B0A04020102020204" charset="0"/>
              </a:rPr>
              <a:t>фициальный</a:t>
            </a:r>
            <a:r>
              <a:rPr lang="en-US" altLang="ru-RU" sz="20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latin typeface="Arial Black" panose="020B0A04020102020204" charset="0"/>
                <a:cs typeface="Arial Black" panose="020B0A04020102020204" charset="0"/>
              </a:rPr>
              <a:t>сайт</a:t>
            </a:r>
            <a:endParaRPr lang="en-US" altLang="en-US" sz="20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13" name="Рисунок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5" y="2797175"/>
            <a:ext cx="1263015" cy="1263015"/>
          </a:xfrm>
          <a:prstGeom prst="ellipse">
            <a:avLst/>
          </a:prstGeom>
        </p:spPr>
      </p:pic>
      <p:sp>
        <p:nvSpPr>
          <p:cNvPr id="17" name="Скругленная прямоугольная выноска 16"/>
          <p:cNvSpPr/>
          <p:nvPr/>
        </p:nvSpPr>
        <p:spPr>
          <a:xfrm>
            <a:off x="2466340" y="2964815"/>
            <a:ext cx="5820410" cy="1750060"/>
          </a:xfrm>
          <a:prstGeom prst="wedgeRoundRectCallout">
            <a:avLst>
              <a:gd name="adj1" fmla="val -60250"/>
              <a:gd name="adj2" fmla="val -22922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2587625" y="3024822"/>
            <a:ext cx="55778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Они все имеют весомые недостатки:</a:t>
            </a:r>
          </a:p>
          <a:p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1.</a:t>
            </a:r>
            <a:r>
              <a:rPr lang="en-US" alt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Фрагментация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информации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</a:p>
          <a:p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2.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Отсутствие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структуры</a:t>
            </a:r>
            <a:endParaRPr lang="en-US" altLang="en-US" sz="20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3.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Сложность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поиска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</a:p>
          <a:p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4. </a:t>
            </a:r>
            <a:r>
              <a:rPr lang="en-US" altLang="en-US" sz="20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Недостоверность</a:t>
            </a:r>
            <a:r>
              <a:rPr lang="en-US" alt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endParaRPr lang="ru-RU" altLang="en-US" sz="20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22" name="Изображение 21"/>
          <p:cNvPicPr/>
          <p:nvPr/>
        </p:nvPicPr>
        <p:blipFill>
          <a:blip r:embed="rId17"/>
          <a:srcRect t="39778" r="1904" b="4054"/>
          <a:stretch>
            <a:fillRect/>
          </a:stretch>
        </p:blipFill>
        <p:spPr>
          <a:xfrm rot="600000">
            <a:off x="8815705" y="3367405"/>
            <a:ext cx="2947670" cy="2193925"/>
          </a:xfrm>
          <a:prstGeom prst="roundRect">
            <a:avLst/>
          </a:prstGeom>
        </p:spPr>
      </p:pic>
      <p:pic>
        <p:nvPicPr>
          <p:cNvPr id="24" name="Изображение 23"/>
          <p:cNvPicPr/>
          <p:nvPr/>
        </p:nvPicPr>
        <p:blipFill>
          <a:blip r:embed="rId18"/>
          <a:srcRect t="12774"/>
          <a:stretch>
            <a:fillRect/>
          </a:stretch>
        </p:blipFill>
        <p:spPr>
          <a:xfrm rot="21360000">
            <a:off x="2906395" y="5036820"/>
            <a:ext cx="2220595" cy="1574800"/>
          </a:xfrm>
          <a:prstGeom prst="roundRect">
            <a:avLst/>
          </a:prstGeom>
        </p:spPr>
      </p:pic>
      <p:pic>
        <p:nvPicPr>
          <p:cNvPr id="25" name="Изображение 24"/>
          <p:cNvPicPr/>
          <p:nvPr/>
        </p:nvPicPr>
        <p:blipFill>
          <a:blip r:embed="rId19"/>
          <a:srcRect l="411" t="-231" r="-411" b="41907"/>
          <a:stretch>
            <a:fillRect/>
          </a:stretch>
        </p:blipFill>
        <p:spPr>
          <a:xfrm rot="21060000">
            <a:off x="153035" y="4517390"/>
            <a:ext cx="2548255" cy="2154555"/>
          </a:xfrm>
          <a:prstGeom prst="roundRect">
            <a:avLst/>
          </a:prstGeom>
        </p:spPr>
      </p:pic>
      <p:pic>
        <p:nvPicPr>
          <p:cNvPr id="26" name="Изображение 25"/>
          <p:cNvPicPr/>
          <p:nvPr/>
        </p:nvPicPr>
        <p:blipFill>
          <a:blip r:embed="rId20"/>
          <a:srcRect l="661" t="870" r="-661" b="76759"/>
          <a:stretch>
            <a:fillRect/>
          </a:stretch>
        </p:blipFill>
        <p:spPr>
          <a:xfrm>
            <a:off x="5592445" y="4972050"/>
            <a:ext cx="3891915" cy="1534160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9" grpId="0" animBg="1"/>
      <p:bldP spid="9" grpId="1" animBg="1"/>
      <p:bldP spid="12" grpId="0"/>
      <p:bldP spid="12" grpId="1"/>
      <p:bldP spid="17" grpId="0" bldLvl="0" animBg="1"/>
      <p:bldP spid="17" grpId="1" animBg="1"/>
      <p:bldP spid="21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9050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1542">
            <a:off x="2384864" y="187044"/>
            <a:ext cx="5189855" cy="5189855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50798">
            <a:off x="11692890" y="8134985"/>
            <a:ext cx="766445" cy="76644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2068810" y="-1724025"/>
            <a:ext cx="2601595" cy="278447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10631170" y="7945755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8840" y="174625"/>
            <a:ext cx="1860550" cy="1860550"/>
          </a:xfrm>
          <a:prstGeom prst="rect">
            <a:avLst/>
          </a:prstGeom>
        </p:spPr>
      </p:pic>
      <p:pic>
        <p:nvPicPr>
          <p:cNvPr id="33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03753">
            <a:off x="8869680" y="4260215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pic>
        <p:nvPicPr>
          <p:cNvPr id="3" name="Изображение 2"/>
          <p:cNvPicPr/>
          <p:nvPr/>
        </p:nvPicPr>
        <p:blipFill>
          <a:blip r:embed="rId16"/>
          <a:stretch>
            <a:fillRect/>
          </a:stretch>
        </p:blipFill>
        <p:spPr>
          <a:xfrm>
            <a:off x="1061657" y="399291"/>
            <a:ext cx="4302125" cy="6158865"/>
          </a:xfrm>
          <a:prstGeom prst="roundRect">
            <a:avLst>
              <a:gd name="adj" fmla="val 3689"/>
            </a:avLst>
          </a:prstGeom>
        </p:spPr>
      </p:pic>
      <p:pic>
        <p:nvPicPr>
          <p:cNvPr id="5" name="Изображение 4"/>
          <p:cNvPicPr/>
          <p:nvPr/>
        </p:nvPicPr>
        <p:blipFill>
          <a:blip r:embed="rId17"/>
          <a:stretch>
            <a:fillRect/>
          </a:stretch>
        </p:blipFill>
        <p:spPr>
          <a:xfrm>
            <a:off x="7769292" y="349444"/>
            <a:ext cx="3357839" cy="6258560"/>
          </a:xfrm>
          <a:prstGeom prst="roundRect">
            <a:avLst>
              <a:gd name="adj" fmla="val 6545"/>
            </a:avLst>
          </a:prstGeom>
          <a:effectLst>
            <a:softEdge rad="0"/>
          </a:effectLst>
        </p:spPr>
      </p:pic>
      <p:pic>
        <p:nvPicPr>
          <p:cNvPr id="288" name="Рисунок 288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0" b="100000" l="0" r="100000">
                        <a14:foregroundMark x1="28125" y1="20508" x2="67969" y2="0"/>
                        <a14:foregroundMark x1="66406" y1="20898" x2="33203" y2="0"/>
                        <a14:foregroundMark x1="27734" y1="20117" x2="27734" y2="0"/>
                        <a14:foregroundMark x1="38672" y1="22070" x2="59766" y2="0"/>
                        <a14:foregroundMark x1="50195" y1="13086" x2="50195" y2="0"/>
                        <a14:foregroundMark x1="37109" y1="14258" x2="63281" y2="0"/>
                        <a14:foregroundMark x1="73828" y1="23633" x2="73047" y2="0"/>
                        <a14:foregroundMark x1="64063" y1="44727" x2="64063" y2="0"/>
                        <a14:foregroundMark x1="21289" y1="78711" x2="51758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5598">
            <a:off x="10721340" y="7436485"/>
            <a:ext cx="1564005" cy="1564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9050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13" name="Прямоугольник 25"/>
          <p:cNvSpPr/>
          <p:nvPr/>
        </p:nvSpPr>
        <p:spPr>
          <a:xfrm>
            <a:off x="-13970" y="-344170"/>
            <a:ext cx="12205335" cy="7546340"/>
          </a:xfrm>
          <a:prstGeom prst="rect">
            <a:avLst/>
          </a:prstGeom>
          <a:solidFill>
            <a:srgbClr val="0D0F4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1542">
            <a:off x="-5218430" y="-3615690"/>
            <a:ext cx="5189855" cy="5189855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20" y="2065655"/>
            <a:ext cx="1636395" cy="163639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2068810" y="-1724025"/>
            <a:ext cx="2601595" cy="278447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8988">
            <a:off x="6821170" y="7308215"/>
            <a:ext cx="1144905" cy="1144905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8840" y="174625"/>
            <a:ext cx="1860550" cy="1860550"/>
          </a:xfrm>
          <a:prstGeom prst="rect">
            <a:avLst/>
          </a:prstGeom>
        </p:spPr>
      </p:pic>
      <p:pic>
        <p:nvPicPr>
          <p:cNvPr id="33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3753">
            <a:off x="7418705" y="3446145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7372985" y="174625"/>
            <a:ext cx="4683760" cy="43008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288" name="Рисунок 288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0" r="100000">
                        <a14:foregroundMark x1="28125" y1="20508" x2="67969" y2="0"/>
                        <a14:foregroundMark x1="66406" y1="20898" x2="33203" y2="0"/>
                        <a14:foregroundMark x1="27734" y1="20117" x2="27734" y2="0"/>
                        <a14:foregroundMark x1="38672" y1="22070" x2="59766" y2="0"/>
                        <a14:foregroundMark x1="50195" y1="13086" x2="50195" y2="0"/>
                        <a14:foregroundMark x1="37109" y1="14258" x2="63281" y2="0"/>
                        <a14:foregroundMark x1="73828" y1="23633" x2="73047" y2="0"/>
                        <a14:foregroundMark x1="64063" y1="44727" x2="64063" y2="0"/>
                        <a14:foregroundMark x1="21289" y1="78711" x2="51758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5598">
            <a:off x="6974205" y="4309745"/>
            <a:ext cx="1867535" cy="186753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0" b="100000" l="0" r="100000">
                        <a14:foregroundMark x1="41375" y1="30250" x2="52875" y2="0"/>
                        <a14:foregroundMark x1="60625" y1="39375" x2="48625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68805" y="-1115695"/>
            <a:ext cx="9241790" cy="888111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66115" y="819785"/>
            <a:ext cx="42938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аза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знаний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Б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аза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данных</a:t>
            </a:r>
            <a:endParaRPr lang="en-US" alt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рограммный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код</a:t>
            </a:r>
            <a:endParaRPr lang="en-US" alt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Навигация</a:t>
            </a:r>
            <a:b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по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номерам</a:t>
            </a:r>
            <a:endParaRPr lang="en-US" altLang="en-US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З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аказ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справок</a:t>
            </a:r>
            <a:endParaRPr lang="en-US" altLang="en-US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680720" y="3126740"/>
            <a:ext cx="413893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П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анель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администратора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endParaRPr lang="en-US" alt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Г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ибкий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просмотр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расписания</a:t>
            </a:r>
            <a:endParaRPr lang="en-US" altLang="en-US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Ф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ункциональное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тестирование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.</a:t>
            </a:r>
            <a:endParaRPr lang="en-US" alt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П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роизводительность</a:t>
            </a:r>
            <a:r>
              <a:rPr lang="en-US" alt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запросов</a:t>
            </a:r>
            <a:r>
              <a:rPr lang="ru-RU" alt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.</a:t>
            </a:r>
          </a:p>
        </p:txBody>
      </p:sp>
      <p:pic>
        <p:nvPicPr>
          <p:cNvPr id="12" name="Изображение 1" descr="IMG_25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27340" y="467995"/>
            <a:ext cx="3574415" cy="35744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Рисунок 15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600" b="92200" l="0" r="92333">
                        <a14:foregroundMark x1="42500" y1="37000" x2="48333" y2="0"/>
                        <a14:foregroundMark x1="42333" y1="38000" x2="58333" y2="0"/>
                        <a14:foregroundMark x1="41167" y1="30200" x2="39500" y2="0"/>
                        <a14:foregroundMark x1="52333" y1="57000" x2="56500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0000">
            <a:off x="10670540" y="5696585"/>
            <a:ext cx="3084195" cy="2569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635417 -0.00675926 L 0.0114583 -0.0203704 L 0.0140104 -0.0339815 L 0.0191146 -0.0453704 L 0.0229688 -0.0612037 L 0.0293229 -0.0748148 L 0.030625 -0.0884259 L 0.0331771 -0.102037 L 0.0344271 -0.113333 L 0.0369792 -0.126944 L 0.0369792 -0.140556 L 0.0369792 -0.151944 L 0.0369792 -0.165556 L 0.0369792 -0.179074 L 0.0369792 -0.190463 L 0.0369792 -0.204074 L 0.0357292 -0.21537 L 0.0344271 -0.226759 L 0.031875 -0.238056 L 0.0280729 -0.251667 L 0.0216667 -0.265278 L 0.0165625 -0.278889 L 0.0127604 -0.2925 L 0.00765625 -0.303796 L 0.00255208 -0.315185 L -0.00130208 -0.328796 L -0.00640625 -0.340093 L -0.0102083 -0.351481 L -0.0165625 -0.365093 L -0.0229688 -0.374167 L -0.0293229 -0.383241 L -0.0369792 -0.394537 L -0.0433854 -0.403611 L -0.0497396 -0.41037 L -0.0573958 -0.421759 L -0.0638021 -0.433056 L -0.0701562 -0.44213 L -0.0778125 -0.453519 L -0.0841667 -0.460278 L -0.0905729 -0.471667 L -0.0969271 -0.480741 L -0.103333 -0.489815 L -0.11099 -0.501111 L -0.118646 -0.510185 L -0.127552 -0.526019 L -0.133958 -0.530556 L -0.140312 -0.541944 L -0.146667 -0.548704 L -0.154323 -0.557778 L -0.160729 -0.562315 L -0.167083 -0.566852 L -0.17474 -0.571389 L -0.181146 -0.575926 L -0.1875 -0.580463 L -0.193906 -0.582778 L -0.20151 -0.587315 L -0.207917 -0.587315 L -0.214271 -0.587315 L -0.220677 -0.589537 L -0.230885 -0.589537 L -0.239792 -0.589537 L -0.24875 -0.589537 L -0.258958 -0.591852 L -0.266562 -0.591852 L -0.272969 -0.594074 L -0.281875 -0.594074 L -0.290833 -0.594074 L -0.29849 -0.594074 L -0.307396 -0.596389 L -0.316354 -0.598611 L -0.322708 -0.600926 L -0.332917 -0.603148 L -0.344375 -0.607685 L -0.353333 -0.61 L -0.363542 -0.614537 L -0.371198 -0.616759 L -0.377552 -0.618981 L -0.383958 -0.623519 L -0.392865 -0.628056 L -0.403073 -0.634907 L -0.413281 -0.641667 L -0.420938 -0.646204 L -0.429844 -0.653056 L -0.440052 -0.66213 L -0.446458 -0.666667 L -0.456615 -0.675741 L -0.464271 -0.6825 L -0.470677 -0.691574 L -0.478333 -0.700648 L -0.484688 -0.712037 L -0.491094 -0.725648 L -0.497448 -0.741481 L -0.503854 -0.755093 L -0.510208 -0.768704 L -0.515312 -0.782315 L -0.520417 -0.798148 L -0.524219 -0.809537 L -0.528073 -0.820833 L -0.533177 -0.832222 L -0.536979 -0.843518 L -0.543385 -0.854815 L -0.54974 -0.863889 L -0.556146 -0.875278 L -0.5625 -0.884352 L -0.568906 -0.895648 L -0.57526 -0.904722 L -0.582917 -0.916111 L -0.589271 -0.925185 L -0.595677 -0.931944 L -0.602031 -0.938796 L -0.608437 -0.945556 L -0.614792 -0.950093 L -0.621198 -0.952315 " pathEditMode="relative" ptsTypes="">
                                      <p:cBhvr>
                                        <p:cTn id="6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9050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Прямоугольник 25"/>
          <p:cNvSpPr/>
          <p:nvPr/>
        </p:nvSpPr>
        <p:spPr>
          <a:xfrm>
            <a:off x="-13970" y="-344170"/>
            <a:ext cx="12205335" cy="7546340"/>
          </a:xfrm>
          <a:prstGeom prst="rect">
            <a:avLst/>
          </a:prstGeom>
          <a:solidFill>
            <a:srgbClr val="0D0F40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1542">
            <a:off x="-5218430" y="-3615690"/>
            <a:ext cx="5189855" cy="5189855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2640" y="-2115185"/>
            <a:ext cx="1636395" cy="163639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2068810" y="-1724025"/>
            <a:ext cx="2601595" cy="278447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8988">
            <a:off x="389255" y="257175"/>
            <a:ext cx="1743710" cy="1743710"/>
          </a:xfrm>
          <a:prstGeom prst="rect">
            <a:avLst/>
          </a:prstGeom>
        </p:spPr>
      </p:pic>
      <p:pic>
        <p:nvPicPr>
          <p:cNvPr id="19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5125" y="1341120"/>
            <a:ext cx="2482215" cy="2482215"/>
          </a:xfrm>
          <a:prstGeom prst="rect">
            <a:avLst/>
          </a:prstGeom>
        </p:spPr>
      </p:pic>
      <p:pic>
        <p:nvPicPr>
          <p:cNvPr id="33" name="Рисунок 2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3753">
            <a:off x="9456420" y="5514340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pic>
        <p:nvPicPr>
          <p:cNvPr id="288" name="Рисунок 288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0" r="100000">
                        <a14:foregroundMark x1="28125" y1="20508" x2="67969" y2="0"/>
                        <a14:foregroundMark x1="66406" y1="20898" x2="33203" y2="0"/>
                        <a14:foregroundMark x1="27734" y1="20117" x2="27734" y2="0"/>
                        <a14:foregroundMark x1="38672" y1="22070" x2="59766" y2="0"/>
                        <a14:foregroundMark x1="50195" y1="13086" x2="50195" y2="0"/>
                        <a14:foregroundMark x1="37109" y1="14258" x2="63281" y2="0"/>
                        <a14:foregroundMark x1="73828" y1="23633" x2="73047" y2="0"/>
                        <a14:foregroundMark x1="64063" y1="44727" x2="64063" y2="0"/>
                        <a14:foregroundMark x1="21289" y1="78711" x2="51758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5598">
            <a:off x="3210560" y="7270750"/>
            <a:ext cx="1867535" cy="1867535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3122930" y="387985"/>
            <a:ext cx="7433310" cy="1057275"/>
          </a:xfrm>
          <a:prstGeom prst="roundRect">
            <a:avLst>
              <a:gd name="adj" fmla="val 32852"/>
            </a:avLst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3792220" y="419100"/>
            <a:ext cx="61734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540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Подводя итоги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59460" y="2397125"/>
            <a:ext cx="10714990" cy="3782060"/>
          </a:xfrm>
          <a:prstGeom prst="roundRect">
            <a:avLst/>
          </a:prstGeom>
          <a:solidFill>
            <a:srgbClr val="0DAB9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962660" y="2519045"/>
            <a:ext cx="1024763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1.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Cтудент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ы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абитуриент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ы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получат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актуальную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информацию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структурированном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виде</a:t>
            </a:r>
            <a:endParaRPr lang="en-US" altLang="en-US" sz="2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2. 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О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тслежива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ется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статус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заказанных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справок</a:t>
            </a:r>
          </a:p>
          <a:p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3. 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А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дминистрац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ия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техникума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сократит</a:t>
            </a:r>
            <a:b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время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н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а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ответы</a:t>
            </a:r>
          </a:p>
          <a:p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4. 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У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чебно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е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заведени</a:t>
            </a:r>
            <a:r>
              <a:rPr lang="ru-RU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е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повысит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качество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информационного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обслуживания</a:t>
            </a:r>
            <a:b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без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дополнительных</a:t>
            </a:r>
            <a:r>
              <a:rPr lang="en-US" altLang="ru-RU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затрат</a:t>
            </a: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-14939010" y="1911985"/>
            <a:ext cx="12378055" cy="2177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3" name="Рисунок 27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5435" y="1341120"/>
            <a:ext cx="2933700" cy="293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19050" y="-17780"/>
            <a:ext cx="12211050" cy="6901815"/>
          </a:xfrm>
          <a:prstGeom prst="rect">
            <a:avLst/>
          </a:prstGeom>
          <a:gradFill>
            <a:gsLst>
              <a:gs pos="0">
                <a:srgbClr val="3CB8FE"/>
              </a:gs>
              <a:gs pos="86000">
                <a:srgbClr val="7238E2">
                  <a:alpha val="100000"/>
                </a:srgbClr>
              </a:gs>
              <a:gs pos="56000">
                <a:srgbClr val="4342EB">
                  <a:alpha val="100000"/>
                </a:srgbClr>
              </a:gs>
              <a:gs pos="36000">
                <a:srgbClr val="2C58F2"/>
              </a:gs>
              <a:gs pos="70000">
                <a:srgbClr val="592BE3"/>
              </a:gs>
              <a:gs pos="93000">
                <a:srgbClr val="8145DF">
                  <a:alpha val="100000"/>
                </a:srgbClr>
              </a:gs>
              <a:gs pos="100000">
                <a:srgbClr val="9051DC"/>
              </a:gs>
            </a:gsLst>
            <a:lin ang="1524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4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832" b="69973" l="62500" r="97418">
                        <a14:foregroundMark x1="74049" y1="39810" x2="80707" y2="0"/>
                        <a14:foregroundMark x1="79348" y1="39402" x2="76766" y2="0"/>
                        <a14:foregroundMark x1="80571" y1="48234" x2="85190" y2="0"/>
                        <a14:foregroundMark x1="85462" y1="47962" x2="87092" y2="0"/>
                        <a14:foregroundMark x1="88043" y1="49592" x2="88043" y2="0"/>
                        <a14:foregroundMark x1="73234" y1="53261" x2="73234" y2="0"/>
                        <a14:foregroundMark x1="75136" y1="51223" x2="75136" y2="0"/>
                        <a14:foregroundMark x1="74049" y1="48098" x2="74049" y2="0"/>
                        <a14:backgroundMark x1="92391" y1="68207" x2="92391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1542">
            <a:off x="-5218430" y="-3615690"/>
            <a:ext cx="5189855" cy="5189855"/>
          </a:xfrm>
          <a:prstGeom prst="rect">
            <a:avLst/>
          </a:prstGeom>
        </p:spPr>
      </p:pic>
      <p:pic>
        <p:nvPicPr>
          <p:cNvPr id="15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20313" y1="41016" x2="20313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2640" y="-2115185"/>
            <a:ext cx="1636395" cy="1636395"/>
          </a:xfrm>
          <a:prstGeom prst="rect">
            <a:avLst/>
          </a:prstGeom>
        </p:spPr>
      </p:pic>
      <p:pic>
        <p:nvPicPr>
          <p:cNvPr id="16" name="Рисунок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127" y1="28797" x2="65190" y2="0"/>
                        <a14:foregroundMark x1="34494" y1="69304" x2="59177" y2="0"/>
                        <a14:foregroundMark x1="45570" y1="70886" x2="61709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5709">
            <a:off x="12068810" y="-1724025"/>
            <a:ext cx="2601595" cy="2784475"/>
          </a:xfrm>
          <a:prstGeom prst="rect">
            <a:avLst/>
          </a:prstGeom>
        </p:spPr>
      </p:pic>
      <p:pic>
        <p:nvPicPr>
          <p:cNvPr id="18" name="Рисунок 29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7111" y1="16000" x2="27111" y2="0"/>
                        <a14:foregroundMark x1="39111" y1="34222" x2="39111" y2="0"/>
                        <a14:foregroundMark x1="40000" y1="48000" x2="40000" y2="0"/>
                        <a14:foregroundMark x1="32444" y1="42667" x2="32444" y2="0"/>
                        <a14:foregroundMark x1="52000" y1="36000" x2="52000" y2="0"/>
                        <a14:foregroundMark x1="37333" y1="74222" x2="37333" y2="0"/>
                        <a14:foregroundMark x1="16000" y1="70667" x2="16000" y2="0"/>
                        <a14:foregroundMark x1="34667" y1="73778" x2="34667" y2="0"/>
                        <a14:foregroundMark x1="12000" y1="29333" x2="9778" y2="0"/>
                        <a14:foregroundMark x1="40889" y1="73333" x2="40889" y2="0"/>
                        <a14:foregroundMark x1="29778" y1="68444" x2="51111" y2="0"/>
                        <a14:foregroundMark x1="10222" y1="24889" x2="15556" y2="0"/>
                        <a14:foregroundMark x1="23556" y1="9333" x2="49333" y2="0"/>
                        <a14:foregroundMark x1="13333" y1="45333" x2="15556" y2="0"/>
                        <a14:foregroundMark x1="8889" y1="73778" x2="35556" y2="0"/>
                        <a14:foregroundMark x1="22222" y1="85778" x2="58667" y2="0"/>
                        <a14:foregroundMark x1="46222" y1="89778" x2="69778" y2="0"/>
                        <a14:foregroundMark x1="68889" y1="85778" x2="83111" y2="0"/>
                        <a14:foregroundMark x1="86222" y1="48444" x2="80889" y2="0"/>
                        <a14:foregroundMark x1="88000" y1="66667" x2="84889" y2="0"/>
                        <a14:foregroundMark x1="29778" y1="91111" x2="34667" y2="0"/>
                        <a14:foregroundMark x1="29333" y1="26667" x2="50222" y2="0"/>
                        <a14:foregroundMark x1="58222" y1="28889" x2="64889" y2="0"/>
                        <a14:foregroundMark x1="55556" y1="32000" x2="55556" y2="0"/>
                        <a14:foregroundMark x1="54667" y1="35111" x2="54222" y2="0"/>
                        <a14:foregroundMark x1="50667" y1="34667" x2="50667" y2="0"/>
                        <a14:foregroundMark x1="68889" y1="23556" x2="68889" y2="0"/>
                        <a14:foregroundMark x1="63556" y1="24444" x2="63556" y2="0"/>
                        <a14:foregroundMark x1="31556" y1="21778" x2="27111" y2="0"/>
                        <a14:foregroundMark x1="36000" y1="26222" x2="40889" y2="0"/>
                        <a14:foregroundMark x1="42222" y1="28444" x2="41778" y2="0"/>
                        <a14:foregroundMark x1="28889" y1="69778" x2="28000" y2="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8988">
            <a:off x="-4088765" y="-1095375"/>
            <a:ext cx="1743710" cy="1743710"/>
          </a:xfrm>
          <a:prstGeom prst="rect">
            <a:avLst/>
          </a:prstGeom>
        </p:spPr>
      </p:pic>
      <p:pic>
        <p:nvPicPr>
          <p:cNvPr id="33" name="Рисунок 26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3753">
            <a:off x="9456420" y="5514340"/>
            <a:ext cx="5914390" cy="5914390"/>
          </a:xfrm>
          <a:prstGeom prst="rect">
            <a:avLst/>
          </a:prstGeom>
        </p:spPr>
      </p:pic>
      <p:pic>
        <p:nvPicPr>
          <p:cNvPr id="37" name="Рисунок 290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>
                        <a14:foregroundMark x1="45778" y1="12889" x2="51111" y2="0"/>
                        <a14:foregroundMark x1="62667" y1="16889" x2="65333" y2="0"/>
                        <a14:foregroundMark x1="26667" y1="16000" x2="24444" y2="0"/>
                        <a14:foregroundMark x1="16000" y1="31556" x2="26667" y2="0"/>
                        <a14:foregroundMark x1="67111" y1="40889" x2="82667" y2="0"/>
                        <a14:foregroundMark x1="80444" y1="54222" x2="58222" y2="0"/>
                        <a14:foregroundMark x1="83556" y1="68889" x2="61333" y2="0"/>
                        <a14:foregroundMark x1="83111" y1="87111" x2="60000" y2="0"/>
                        <a14:foregroundMark x1="22222" y1="80444" x2="45778" y2="0"/>
                        <a14:foregroundMark x1="24889" y1="9778" x2="70222" y2="0"/>
                        <a14:foregroundMark x1="60444" y1="6667" x2="76444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479">
            <a:off x="-2268855" y="4215130"/>
            <a:ext cx="2100580" cy="2100580"/>
          </a:xfrm>
          <a:prstGeom prst="rect">
            <a:avLst/>
          </a:prstGeom>
        </p:spPr>
      </p:pic>
      <p:pic>
        <p:nvPicPr>
          <p:cNvPr id="288" name="Рисунок 288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>
                        <a14:foregroundMark x1="28125" y1="20508" x2="67969" y2="0"/>
                        <a14:foregroundMark x1="66406" y1="20898" x2="33203" y2="0"/>
                        <a14:foregroundMark x1="27734" y1="20117" x2="27734" y2="0"/>
                        <a14:foregroundMark x1="38672" y1="22070" x2="59766" y2="0"/>
                        <a14:foregroundMark x1="50195" y1="13086" x2="50195" y2="0"/>
                        <a14:foregroundMark x1="37109" y1="14258" x2="63281" y2="0"/>
                        <a14:foregroundMark x1="73828" y1="23633" x2="73047" y2="0"/>
                        <a14:foregroundMark x1="64063" y1="44727" x2="64063" y2="0"/>
                        <a14:foregroundMark x1="21289" y1="78711" x2="51758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5598">
            <a:off x="3210560" y="7270750"/>
            <a:ext cx="1867535" cy="1867535"/>
          </a:xfrm>
          <a:prstGeom prst="rect">
            <a:avLst/>
          </a:prstGeom>
        </p:spPr>
      </p:pic>
      <p:sp>
        <p:nvSpPr>
          <p:cNvPr id="25" name="Прямоугольник 25"/>
          <p:cNvSpPr/>
          <p:nvPr/>
        </p:nvSpPr>
        <p:spPr>
          <a:xfrm>
            <a:off x="-13970" y="-344170"/>
            <a:ext cx="12205335" cy="7546340"/>
          </a:xfrm>
          <a:prstGeom prst="rect">
            <a:avLst/>
          </a:prstGeom>
          <a:solidFill>
            <a:srgbClr val="0D0F4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Скругленный прямоугольник 1"/>
          <p:cNvSpPr/>
          <p:nvPr/>
        </p:nvSpPr>
        <p:spPr>
          <a:xfrm>
            <a:off x="-280670" y="1911985"/>
            <a:ext cx="12378055" cy="2177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pic>
        <p:nvPicPr>
          <p:cNvPr id="19" name="Рисунок 27"/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0" r="100000">
                        <a14:foregroundMark x1="7333" y1="43000" x2="7333" y2="0"/>
                        <a14:foregroundMark x1="9000" y1="82333" x2="30667" y2="0"/>
                        <a14:foregroundMark x1="40000" y1="93000" x2="70333" y2="0"/>
                        <a14:foregroundMark x1="68667" y1="90000" x2="83667" y2="0"/>
                        <a14:foregroundMark x1="58000" y1="7333" x2="78333" y2="0"/>
                        <a14:foregroundMark x1="82000" y1="12667" x2="92667" y2="0"/>
                        <a14:foregroundMark x1="93000" y1="33000" x2="94333" y2="0"/>
                        <a14:foregroundMark x1="16333" y1="91333" x2="16333" y2="0"/>
                        <a14:backgroundMark x1="2000" y1="5333" x2="2000" y2="0"/>
                        <a14:backgroundMark x1="5000" y1="6333" x2="5000" y2="0"/>
                        <a14:backgroundMark x1="96333" y1="2000" x2="96333" y2="0"/>
                        <a14:backgroundMark x1="96000" y1="95000" x2="96000" y2="0"/>
                        <a14:backgroundMark x1="96000" y1="95000" x2="96000" y2="0"/>
                        <a14:backgroundMark x1="94667" y1="96667" x2="94667" y2="0"/>
                        <a14:backgroundMark x1="5333" y1="97000" x2="5333" y2="0"/>
                        <a14:backgroundMark x1="3333" y1="93667" x2="3333" y2="0"/>
                        <a14:backgroundMark x1="333" y1="84000" x2="333" y2="0"/>
                        <a14:backgroundMark x1="16667" y1="99333" x2="16667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115" y="1451610"/>
            <a:ext cx="2933700" cy="29337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37540" y="2534285"/>
            <a:ext cx="914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4400">
                <a:solidFill>
                  <a:schemeClr val="accent5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250</Words>
  <Application>Microsoft Office PowerPoint</Application>
  <PresentationFormat>Широкоэкранный</PresentationFormat>
  <Paragraphs>45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微软雅黑</vt:lpstr>
      <vt:lpstr>Arial</vt:lpstr>
      <vt:lpstr>Arial Black</vt:lpstr>
      <vt:lpstr>Calibri</vt:lpstr>
      <vt:lpstr>Calibri Light</vt:lpstr>
      <vt:lpstr>Wingdings</vt:lpstr>
      <vt:lpstr>Office Theme</vt:lpstr>
      <vt:lpstr>«Создание чат-бота для студентов и абитуриентов ГПОУ «СПТ» в национальном мессенджере МАХ»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overm1nd</cp:lastModifiedBy>
  <cp:revision>5</cp:revision>
  <dcterms:created xsi:type="dcterms:W3CDTF">2025-07-23T00:59:00Z</dcterms:created>
  <dcterms:modified xsi:type="dcterms:W3CDTF">2026-06-17T20:42:37Z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98FF1227D94348D39C9A9B5C9750D826_11</vt:lpwstr>
  </property>
</Properties>
</file>